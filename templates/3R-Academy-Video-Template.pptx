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CD4DD"/>
                </a:solidFill>
                <a:latin typeface="Arial"/>
              </a:rPr>
              <a:t>3R ACADEMY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69867" y="1874519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87187" y="1874519"/>
            <a:ext cx="1417320" cy="457200"/>
          </a:xfrm>
          <a:prstGeom prst="roundRect">
            <a:avLst>
              <a:gd name="adj" fmla="val 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04507" y="1874519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971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Chapter title</a:t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(e.g. Epidemiology &amp; Disease Control)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BCD4DD"/>
                </a:solidFill>
                <a:latin typeface="Arial"/>
              </a:rPr>
              <a:t>Health Assistant — Loksewa · Chapter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Arial"/>
              </a:rPr>
              <a:t>by Dr. Mukesh Adhikari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BCD4DD"/>
                </a:solidFill>
                <a:latin typeface="Arial"/>
              </a:rPr>
              <a:t>learn it · lock it in · top the merit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960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03504"/>
            <a:ext cx="94484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303A"/>
                </a:solidFill>
                <a:latin typeface="Arial"/>
              </a:rPr>
              <a:t>In this lesson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5433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>•  Objective one — what they'll be able to do</a:t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/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>•  Objective two</a:t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/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>•  Objective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A85"/>
                </a:solidFill>
                <a:latin typeface="Arial"/>
              </a:rPr>
              <a:t>3R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960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03504"/>
            <a:ext cx="94484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303A"/>
                </a:solidFill>
                <a:latin typeface="Arial"/>
              </a:rPr>
              <a:t>Topic /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5433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>•  High-yield point (keep it exam-relevant)</a:t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/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>•  Point with a mnemonic hook</a:t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/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>•  One idea per line — large text, minimal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A85"/>
                </a:solidFill>
                <a:latin typeface="Arial"/>
              </a:rPr>
              <a:t>3R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960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03504"/>
            <a:ext cx="94484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303A"/>
                </a:solidFill>
                <a:latin typeface="Arial"/>
              </a:rPr>
              <a:t>KEY facts to remember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45775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981425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>★  One-liner fact one.</a:t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/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>★  One-liner fact two.</a:t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/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>★  One-liner fact three.</a:t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/>
            </a:r>
          </a:p>
          <a:p>
            <a:pPr algn="l"/>
            <a:r>
              <a:rPr sz="2200" b="0" i="0">
                <a:solidFill>
                  <a:srgbClr val="23303A"/>
                </a:solidFill>
                <a:latin typeface="Arial"/>
              </a:rPr>
              <a:t>★  Don't-confuse pair: A vs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008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A85"/>
                </a:solidFill>
                <a:latin typeface="Arial"/>
              </a:rPr>
              <a:t>3R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960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03504"/>
            <a:ext cx="94484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303A"/>
                </a:solidFill>
                <a:latin typeface="Arial"/>
              </a:rPr>
              <a:t>Don't confuse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39496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394960" cy="640080"/>
          </a:xfrm>
          <a:prstGeom prst="roundRect">
            <a:avLst>
              <a:gd name="adj" fmla="val 4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4754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3303A"/>
                </a:solidFill>
                <a:latin typeface="Arial"/>
              </a:rPr>
              <a:t>•  Key difference</a:t>
            </a:r>
          </a:p>
          <a:p>
            <a:pPr algn="l"/>
            <a:r>
              <a:rPr sz="1800" b="0" i="0">
                <a:solidFill>
                  <a:srgbClr val="23303A"/>
                </a:solidFill>
                <a:latin typeface="Arial"/>
              </a:rPr>
              <a:t/>
            </a:r>
          </a:p>
          <a:p>
            <a:pPr algn="l"/>
            <a:r>
              <a:rPr sz="1800" b="0" i="0">
                <a:solidFill>
                  <a:srgbClr val="23303A"/>
                </a:solidFill>
                <a:latin typeface="Arial"/>
              </a:rPr>
              <a:t>•  When it applies</a:t>
            </a:r>
          </a:p>
          <a:p>
            <a:pPr algn="l"/>
            <a:r>
              <a:rPr sz="1800" b="0" i="0">
                <a:solidFill>
                  <a:srgbClr val="23303A"/>
                </a:solidFill>
                <a:latin typeface="Arial"/>
              </a:rPr>
              <a:t/>
            </a:r>
          </a:p>
          <a:p>
            <a:pPr algn="l"/>
            <a:r>
              <a:rPr sz="1800" b="0" i="0">
                <a:solidFill>
                  <a:srgbClr val="23303A"/>
                </a:solidFill>
                <a:latin typeface="Arial"/>
              </a:rPr>
              <a:t>•  Exam trap to avoid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737360"/>
            <a:ext cx="539496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737360"/>
            <a:ext cx="5394960" cy="640080"/>
          </a:xfrm>
          <a:prstGeom prst="roundRect">
            <a:avLst>
              <a:gd name="adj" fmla="val 4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vs. That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06040"/>
            <a:ext cx="4754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3303A"/>
                </a:solidFill>
                <a:latin typeface="Arial"/>
              </a:rPr>
              <a:t>•  Key difference</a:t>
            </a:r>
          </a:p>
          <a:p>
            <a:pPr algn="l"/>
            <a:r>
              <a:rPr sz="1800" b="0" i="0">
                <a:solidFill>
                  <a:srgbClr val="23303A"/>
                </a:solidFill>
                <a:latin typeface="Arial"/>
              </a:rPr>
              <a:t/>
            </a:r>
          </a:p>
          <a:p>
            <a:pPr algn="l"/>
            <a:r>
              <a:rPr sz="1800" b="0" i="0">
                <a:solidFill>
                  <a:srgbClr val="23303A"/>
                </a:solidFill>
                <a:latin typeface="Arial"/>
              </a:rPr>
              <a:t>•  When it applies</a:t>
            </a:r>
          </a:p>
          <a:p>
            <a:pPr algn="l"/>
            <a:r>
              <a:rPr sz="1800" b="0" i="0">
                <a:solidFill>
                  <a:srgbClr val="23303A"/>
                </a:solidFill>
                <a:latin typeface="Arial"/>
              </a:rPr>
              <a:t/>
            </a:r>
          </a:p>
          <a:p>
            <a:pPr algn="l"/>
            <a:r>
              <a:rPr sz="1800" b="0" i="0">
                <a:solidFill>
                  <a:srgbClr val="23303A"/>
                </a:solidFill>
                <a:latin typeface="Arial"/>
              </a:rPr>
              <a:t>•  Exam trap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4255" y="64008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A85"/>
                </a:solidFill>
                <a:latin typeface="Arial"/>
              </a:rPr>
              <a:t>3R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69867" y="1188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87187" y="1188720"/>
            <a:ext cx="1417320" cy="457200"/>
          </a:xfrm>
          <a:prstGeom prst="roundRect">
            <a:avLst>
              <a:gd name="adj" fmla="val 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4507" y="1188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971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Now lock it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971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BCD4DD"/>
                </a:solidFill>
                <a:latin typeface="Arial"/>
              </a:rPr>
              <a:t>Do this chapter's flashcards &amp; MCQs on 3R Academy.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2647" y="4480560"/>
            <a:ext cx="5486400" cy="82296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3r.mukeshadhikari.com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BCD4DD"/>
                </a:solidFill>
                <a:latin typeface="Arial"/>
              </a:rPr>
              <a:t>by Dr. Mukesh Adhikari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CD4DD"/>
                </a:solidFill>
                <a:latin typeface="Arial"/>
              </a:rPr>
              <a:t>3R ACADEMY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5780" y="146304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0220" y="1463040"/>
            <a:ext cx="1234440" cy="502920"/>
          </a:xfrm>
          <a:prstGeom prst="roundRect">
            <a:avLst>
              <a:gd name="adj" fmla="val 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4660" y="146304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"/>
              </a:rPr>
              <a:t>CHAPTER TOPIC</a:t>
            </a:r>
          </a:p>
          <a:p>
            <a:pPr algn="l"/>
            <a:r>
              <a:rPr sz="6000" b="1" i="0">
                <a:solidFill>
                  <a:srgbClr val="FFFFFF"/>
                </a:solidFill>
                <a:latin typeface="Arial"/>
              </a:rPr>
              <a:t>in BIG bold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BCD4DD"/>
                </a:solidFill>
                <a:latin typeface="Arial"/>
              </a:rPr>
              <a:t>Health Assistant — Loksewa  ·  by Dr. Mukesh Adhikari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F8F00"/>
                </a:solidFill>
                <a:latin typeface="Arial"/>
              </a:rPr>
              <a:t>▲ THUMBNAIL (export this slide as PNG)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